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Marcellus" panose="020E0602050203020307" pitchFamily="34" charset="0"/>
      <p:regular r:id="rId23"/>
    </p:embeddedFont>
    <p:embeddedFont>
      <p:font typeface="Montserrat" pitchFamily="2" charset="77"/>
      <p:regular r:id="rId24"/>
      <p:bold r:id="rId25"/>
      <p:italic r:id="rId26"/>
      <p:boldItalic r:id="rId27"/>
    </p:embeddedFont>
  </p:embeddedFontLst>
  <p:defaultTextStyle>
    <a:defPPr>
      <a:defRPr lang="en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113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6965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1314599"/>
            <a:ext cx="4722763" cy="1589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Software pro podporu digitalizace schvalovacího procesu v malé firmě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3925119" y="3116684"/>
            <a:ext cx="4722763" cy="7122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Bakalářská práce · ČVUT FEL, Katedra počítačů</a:t>
            </a:r>
            <a:endParaRPr lang="en-US" sz="11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Autor:</a:t>
            </a: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Artem Arsenyev  ·  </a:t>
            </a:r>
            <a:r>
              <a:rPr lang="en-US" sz="11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Vedoucí:</a:t>
            </a: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Ing. Martin Dobiáš, Ph.D.  ·  Květen 2026</a:t>
            </a:r>
            <a:endParaRPr lang="en-US" sz="11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44BDD0-24FC-A160-F705-E6CA7967DEC6}"/>
              </a:ext>
            </a:extLst>
          </p:cNvPr>
          <p:cNvSpPr txBox="1"/>
          <p:nvPr/>
        </p:nvSpPr>
        <p:spPr>
          <a:xfrm>
            <a:off x="8036699" y="4714116"/>
            <a:ext cx="1107301" cy="369332"/>
          </a:xfrm>
          <a:prstGeom prst="rect">
            <a:avLst/>
          </a:prstGeom>
          <a:solidFill>
            <a:srgbClr val="FEFDF1"/>
          </a:solidFill>
        </p:spPr>
        <p:txBody>
          <a:bodyPr wrap="square" rtlCol="0">
            <a:spAutoFit/>
          </a:bodyPr>
          <a:lstStyle/>
          <a:p>
            <a:endParaRPr lang="cs-CZ" dirty="0"/>
          </a:p>
        </p:txBody>
      </p:sp>
      <p:pic>
        <p:nvPicPr>
          <p:cNvPr id="6" name="Picture 5" descr="LogoCV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657373"/>
            <a:ext cx="2286000" cy="18241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89520" y="4732020"/>
            <a:ext cx="13716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808080"/>
                </a:solidFill>
              </a:defRPr>
            </a:pPr>
            <a:r>
              <a:t>1 /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901" y="372889"/>
            <a:ext cx="1123950" cy="218182"/>
          </a:xfrm>
          <a:prstGeom prst="roundRect">
            <a:avLst>
              <a:gd name="adj" fmla="val 20809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53938" y="413370"/>
            <a:ext cx="1419076" cy="137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MOTIVACE A CÍLE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2901" y="642565"/>
            <a:ext cx="4341912" cy="504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0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Proč tento systém?</a:t>
            </a:r>
            <a:endParaRPr lang="en-US" sz="30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01" y="1578471"/>
            <a:ext cx="5213449" cy="2954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20767" y="298103"/>
            <a:ext cx="2399556" cy="252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Motivace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016005" y="740641"/>
            <a:ext cx="2655094" cy="1469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Společnost </a:t>
            </a:r>
            <a:r>
              <a:rPr lang="en-US" sz="12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Medicton Group</a:t>
            </a: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(zdravotnická technika) řeší schvalování ručně: sdílené Excel tabulky, e-maily a SharePoint. Chybí auditní stopa, automatické notifikace a jednotné workflow.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020767" y="2233193"/>
            <a:ext cx="2399556" cy="252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Cíle práce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016005" y="2784063"/>
            <a:ext cx="2655094" cy="1831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Analyzovat současný stav (AS-IS) ve společnosti</a:t>
            </a:r>
            <a:endParaRPr lang="en-US" sz="1200" dirty="0"/>
          </a:p>
          <a:p>
            <a:pPr marL="342900" indent="-342900" algn="l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Porovnat existující řešení na trhu</a:t>
            </a:r>
            <a:endParaRPr lang="en-US" sz="1200" dirty="0"/>
          </a:p>
          <a:p>
            <a:pPr marL="342900" indent="-342900" algn="l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Navrhnout TO-BE proces a architekturu</a:t>
            </a:r>
            <a:endParaRPr lang="en-US" sz="1200" dirty="0"/>
          </a:p>
          <a:p>
            <a:pPr marL="342900" indent="-342900" algn="l">
              <a:lnSpc>
                <a:spcPct val="106000"/>
              </a:lnSpc>
              <a:buSzPct val="100000"/>
              <a:buChar char="•"/>
            </a:pPr>
            <a:r>
              <a:rPr lang="en-US" sz="12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Implementovat funkční prototyp a ověřit se zástupcem firmy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CD294C-F4E4-B451-6171-6BA4BD288458}"/>
              </a:ext>
            </a:extLst>
          </p:cNvPr>
          <p:cNvSpPr txBox="1"/>
          <p:nvPr/>
        </p:nvSpPr>
        <p:spPr>
          <a:xfrm>
            <a:off x="8036699" y="4714116"/>
            <a:ext cx="1107301" cy="369332"/>
          </a:xfrm>
          <a:prstGeom prst="rect">
            <a:avLst/>
          </a:prstGeom>
          <a:solidFill>
            <a:srgbClr val="FEFDF1"/>
          </a:solidFill>
        </p:spPr>
        <p:txBody>
          <a:bodyPr wrap="square" rtlCol="0">
            <a:spAutoFit/>
          </a:bodyPr>
          <a:lstStyle/>
          <a:p>
            <a:endParaRPr lang="cs-CZ" dirty="0"/>
          </a:p>
        </p:txBody>
      </p:sp>
      <p:sp>
        <p:nvSpPr>
          <p:cNvPr id="11" name="TextBox 10"/>
          <p:cNvSpPr txBox="1"/>
          <p:nvPr/>
        </p:nvSpPr>
        <p:spPr>
          <a:xfrm>
            <a:off x="7589520" y="4732020"/>
            <a:ext cx="13716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808080"/>
                </a:solidFill>
              </a:defRPr>
            </a:pPr>
            <a:r>
              <a:t>2 /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640" y="383977"/>
            <a:ext cx="1007343" cy="222796"/>
          </a:xfrm>
          <a:prstGeom prst="roundRect">
            <a:avLst>
              <a:gd name="adj" fmla="val 20712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563017" y="425128"/>
            <a:ext cx="1299790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ANALÝZA AS-IS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0640" y="659978"/>
            <a:ext cx="5957143" cy="513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Současný stav procesů ve firmě</a:t>
            </a:r>
            <a:endParaRPr lang="en-US" sz="3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3657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D29A1CB-667F-3500-96AE-6CFF5E0CBE3D}"/>
              </a:ext>
            </a:extLst>
          </p:cNvPr>
          <p:cNvSpPr txBox="1"/>
          <p:nvPr/>
        </p:nvSpPr>
        <p:spPr>
          <a:xfrm>
            <a:off x="8036699" y="4714116"/>
            <a:ext cx="1107301" cy="369332"/>
          </a:xfrm>
          <a:prstGeom prst="rect">
            <a:avLst/>
          </a:prstGeom>
          <a:solidFill>
            <a:srgbClr val="FEFDF1"/>
          </a:solidFill>
        </p:spPr>
        <p:txBody>
          <a:bodyPr wrap="square" rtlCol="0">
            <a:spAutoFit/>
          </a:bodyPr>
          <a:lstStyle/>
          <a:p>
            <a:endParaRPr lang="cs-CZ" dirty="0"/>
          </a:p>
        </p:txBody>
      </p:sp>
      <p:sp>
        <p:nvSpPr>
          <p:cNvPr id="11" name="TextBox 10"/>
          <p:cNvSpPr txBox="1"/>
          <p:nvPr/>
        </p:nvSpPr>
        <p:spPr>
          <a:xfrm>
            <a:off x="7589520" y="4732020"/>
            <a:ext cx="13716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808080"/>
                </a:solidFill>
              </a:defRPr>
            </a:pPr>
            <a:r>
              <a:t>3 /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585341"/>
            <a:ext cx="1068735" cy="232395"/>
          </a:xfrm>
          <a:prstGeom prst="roundRect">
            <a:avLst>
              <a:gd name="adj" fmla="val 20497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627831"/>
            <a:ext cx="1355824" cy="1474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ANALÝZA TRHU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874440"/>
            <a:ext cx="5594226" cy="529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Porovnání existujících řešení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96119" y="1616869"/>
            <a:ext cx="4004965" cy="855836"/>
          </a:xfrm>
          <a:prstGeom prst="roundRect">
            <a:avLst>
              <a:gd name="adj" fmla="val 6957"/>
            </a:avLst>
          </a:prstGeom>
          <a:solidFill>
            <a:srgbClr val="FFFFF4">
              <a:alpha val="95000"/>
            </a:srgbClr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6927" y="1777678"/>
            <a:ext cx="2516609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Microsoft Power Automate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56927" y="2127647"/>
            <a:ext cx="3683347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workflow, integrace s M365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42842" y="1616869"/>
            <a:ext cx="4005039" cy="855836"/>
          </a:xfrm>
          <a:prstGeom prst="roundRect">
            <a:avLst>
              <a:gd name="adj" fmla="val 6957"/>
            </a:avLst>
          </a:prstGeom>
          <a:solidFill>
            <a:srgbClr val="FFFFF4">
              <a:alpha val="95000"/>
            </a:srgbClr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3651" y="1777678"/>
            <a:ext cx="2757562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Dynamics 365 Business Central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03651" y="2127647"/>
            <a:ext cx="3683422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ERP s approval workflow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96119" y="2614464"/>
            <a:ext cx="4004965" cy="855836"/>
          </a:xfrm>
          <a:prstGeom prst="roundRect">
            <a:avLst>
              <a:gd name="adj" fmla="val 6957"/>
            </a:avLst>
          </a:prstGeom>
          <a:solidFill>
            <a:srgbClr val="FFFFF4">
              <a:alpha val="95000"/>
            </a:srgbClr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927" y="2775272"/>
            <a:ext cx="2211660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Oracle Invoice Approval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6927" y="3125242"/>
            <a:ext cx="3683347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Robustní enterprise řešení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42842" y="2614464"/>
            <a:ext cx="4005039" cy="855836"/>
          </a:xfrm>
          <a:prstGeom prst="roundRect">
            <a:avLst>
              <a:gd name="adj" fmla="val 6957"/>
            </a:avLst>
          </a:prstGeom>
          <a:solidFill>
            <a:srgbClr val="FFFFF4">
              <a:alpha val="95000"/>
            </a:srgbClr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3651" y="2775272"/>
            <a:ext cx="2037904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Odoo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803651" y="3125242"/>
            <a:ext cx="3683422" cy="184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Modulární approval rules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6119" y="3629769"/>
            <a:ext cx="8151763" cy="928315"/>
          </a:xfrm>
          <a:prstGeom prst="roundRect">
            <a:avLst>
              <a:gd name="adj" fmla="val 6414"/>
            </a:avLst>
          </a:prstGeom>
          <a:solidFill>
            <a:srgbClr val="FFD1B3"/>
          </a:solidFill>
          <a:ln/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825776"/>
            <a:ext cx="177180" cy="141759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56816" y="3806949"/>
            <a:ext cx="7549307" cy="552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Závěr: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Hotové platformy jsou buď příliš rozsáhlé pro malou firmu, nebo neodpovídají specifickým pravidlům Medicton Group. Nejvhodnější cesta: </a:t>
            </a:r>
            <a:r>
              <a:rPr lang="en-US" sz="1100" b="1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vlastní webová aplikace</a:t>
            </a: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inspirovaná zkoumanými principy.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67D606-2929-D11C-00E8-17B4944213FC}"/>
              </a:ext>
            </a:extLst>
          </p:cNvPr>
          <p:cNvSpPr txBox="1"/>
          <p:nvPr/>
        </p:nvSpPr>
        <p:spPr>
          <a:xfrm>
            <a:off x="8036699" y="4714116"/>
            <a:ext cx="1107301" cy="369332"/>
          </a:xfrm>
          <a:prstGeom prst="rect">
            <a:avLst/>
          </a:prstGeom>
          <a:solidFill>
            <a:srgbClr val="FEFDF1"/>
          </a:solidFill>
        </p:spPr>
        <p:txBody>
          <a:bodyPr wrap="square" rtlCol="0">
            <a:spAutoFit/>
          </a:bodyPr>
          <a:lstStyle/>
          <a:p>
            <a:endParaRPr lang="cs-CZ" dirty="0"/>
          </a:p>
        </p:txBody>
      </p:sp>
      <p:sp>
        <p:nvSpPr>
          <p:cNvPr id="21" name="TextBox 20"/>
          <p:cNvSpPr txBox="1"/>
          <p:nvPr/>
        </p:nvSpPr>
        <p:spPr>
          <a:xfrm>
            <a:off x="7589520" y="4732020"/>
            <a:ext cx="13716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808080"/>
                </a:solidFill>
              </a:defRPr>
            </a:pPr>
            <a:r>
              <a:t>4 /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349" y="415379"/>
            <a:ext cx="908075" cy="208880"/>
          </a:xfrm>
          <a:prstGeom prst="roundRect">
            <a:avLst>
              <a:gd name="adj" fmla="val 21023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35707" y="454521"/>
            <a:ext cx="1208559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NÁVRH TO-BE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349" y="672405"/>
            <a:ext cx="4546550" cy="488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Nový schvalovací proces</a:t>
            </a:r>
            <a:endParaRPr lang="en-US" sz="2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" y="1280160"/>
            <a:ext cx="7762379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0" y="297180"/>
            <a:ext cx="256032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Schvalovací úrovně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309360" y="916594"/>
            <a:ext cx="2560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10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L1</a:t>
            </a: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 3 000 Kč → vedoucí skupiny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10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L2</a:t>
            </a: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 50 000 Kč → finanční ředitel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10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L3</a:t>
            </a: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nad 50 000 Kč → finanční ředitel + jednatel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1000" b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PURCHASE</a:t>
            </a: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(bez ohledu na částku) → manažer nákupu + jednatel</a:t>
            </a:r>
            <a:endParaRPr lang="en-US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6D17119-404A-D295-8692-CE40A5EA3DFC}"/>
              </a:ext>
            </a:extLst>
          </p:cNvPr>
          <p:cNvSpPr txBox="1"/>
          <p:nvPr/>
        </p:nvSpPr>
        <p:spPr>
          <a:xfrm>
            <a:off x="8036699" y="4714116"/>
            <a:ext cx="1107301" cy="369332"/>
          </a:xfrm>
          <a:prstGeom prst="rect">
            <a:avLst/>
          </a:prstGeom>
          <a:solidFill>
            <a:srgbClr val="FEFDF1"/>
          </a:solidFill>
        </p:spPr>
        <p:txBody>
          <a:bodyPr wrap="square" rtlCol="0">
            <a:spAutoFit/>
          </a:bodyPr>
          <a:lstStyle/>
          <a:p>
            <a:endParaRPr lang="cs-CZ" dirty="0"/>
          </a:p>
        </p:txBody>
      </p:sp>
      <p:sp>
        <p:nvSpPr>
          <p:cNvPr id="11" name="TextBox 10"/>
          <p:cNvSpPr txBox="1"/>
          <p:nvPr/>
        </p:nvSpPr>
        <p:spPr>
          <a:xfrm>
            <a:off x="7589520" y="4732020"/>
            <a:ext cx="13716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808080"/>
                </a:solidFill>
              </a:defRPr>
            </a:pPr>
            <a:r>
              <a:t>5 /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3759" y="312167"/>
            <a:ext cx="806128" cy="160437"/>
          </a:xfrm>
          <a:prstGeom prst="roundRect">
            <a:avLst>
              <a:gd name="adj" fmla="val 22268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967532" y="344016"/>
            <a:ext cx="1135782" cy="96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ARCHITEKTURA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03759" y="504453"/>
            <a:ext cx="5216128" cy="397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Technologický stack a architektura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384048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C344389-A89B-E399-84F9-A04ED12F71E3}"/>
              </a:ext>
            </a:extLst>
          </p:cNvPr>
          <p:cNvSpPr txBox="1"/>
          <p:nvPr/>
        </p:nvSpPr>
        <p:spPr>
          <a:xfrm>
            <a:off x="8036699" y="4714116"/>
            <a:ext cx="1107301" cy="369332"/>
          </a:xfrm>
          <a:prstGeom prst="rect">
            <a:avLst/>
          </a:prstGeom>
          <a:solidFill>
            <a:srgbClr val="FEFDF1"/>
          </a:solidFill>
        </p:spPr>
        <p:txBody>
          <a:bodyPr wrap="square" rtlCol="0">
            <a:spAutoFit/>
          </a:bodyPr>
          <a:lstStyle/>
          <a:p>
            <a:endParaRPr lang="cs-CZ" dirty="0"/>
          </a:p>
        </p:txBody>
      </p:sp>
      <p:sp>
        <p:nvSpPr>
          <p:cNvPr id="14" name="TextBox 13"/>
          <p:cNvSpPr txBox="1"/>
          <p:nvPr/>
        </p:nvSpPr>
        <p:spPr>
          <a:xfrm>
            <a:off x="7589520" y="4732020"/>
            <a:ext cx="13716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808080"/>
                </a:solidFill>
              </a:defRPr>
            </a:pPr>
            <a:r>
              <a:t>6 /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6393" y="350565"/>
            <a:ext cx="958379" cy="190872"/>
          </a:xfrm>
          <a:prstGeom prst="roundRect">
            <a:avLst>
              <a:gd name="adj" fmla="val 21446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499467" y="387102"/>
            <a:ext cx="1269429" cy="117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DATOVÝ MODEL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26393" y="583257"/>
            <a:ext cx="3959796" cy="455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7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Hlavní entity systému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97280"/>
            <a:ext cx="8229600" cy="384048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AA6F0C1D-69F2-517D-CEAB-7A7206D60CAC}"/>
              </a:ext>
            </a:extLst>
          </p:cNvPr>
          <p:cNvSpPr txBox="1"/>
          <p:nvPr/>
        </p:nvSpPr>
        <p:spPr>
          <a:xfrm>
            <a:off x="8036699" y="4714116"/>
            <a:ext cx="1107301" cy="369332"/>
          </a:xfrm>
          <a:prstGeom prst="rect">
            <a:avLst/>
          </a:prstGeom>
          <a:solidFill>
            <a:srgbClr val="FEFDF1"/>
          </a:solidFill>
        </p:spPr>
        <p:txBody>
          <a:bodyPr wrap="square" rtlCol="0">
            <a:spAutoFit/>
          </a:bodyPr>
          <a:lstStyle/>
          <a:p>
            <a:endParaRPr lang="cs-CZ" dirty="0"/>
          </a:p>
        </p:txBody>
      </p:sp>
      <p:sp>
        <p:nvSpPr>
          <p:cNvPr id="19" name="TextBox 18"/>
          <p:cNvSpPr txBox="1"/>
          <p:nvPr/>
        </p:nvSpPr>
        <p:spPr>
          <a:xfrm>
            <a:off x="7589520" y="4732020"/>
            <a:ext cx="13716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808080"/>
                </a:solidFill>
              </a:defRPr>
            </a:pPr>
            <a:r>
              <a:t>7 /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132" y="386507"/>
            <a:ext cx="1203275" cy="195337"/>
          </a:xfrm>
          <a:prstGeom prst="roundRect">
            <a:avLst>
              <a:gd name="adj" fmla="val 21337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08546" y="423714"/>
            <a:ext cx="1511647" cy="120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7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WORKFLOW A RBAC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4132" y="625227"/>
            <a:ext cx="5490121" cy="463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Stavový model a řízení přístupů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27432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Stavový model ApprovalRequest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→ PENDING_APPROVAL → {APPROVED, REJECTED, RETURNED_FOR_REVISION} → REALIZED → CLOSED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576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Stavový model AccountingDocument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30175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→ SUBMITTED_TO_ACCOUNTING → {POSTED, RETURNED_FOR_COMPLETION} → PAID → CLOSED</a:t>
            </a:r>
            <a:endParaRPr lang="en-US" sz="95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280160"/>
            <a:ext cx="5760720" cy="36576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FCE8292-772E-7844-5D34-F98EB40852BB}"/>
              </a:ext>
            </a:extLst>
          </p:cNvPr>
          <p:cNvSpPr txBox="1"/>
          <p:nvPr/>
        </p:nvSpPr>
        <p:spPr>
          <a:xfrm>
            <a:off x="8036699" y="4714116"/>
            <a:ext cx="1107301" cy="369332"/>
          </a:xfrm>
          <a:prstGeom prst="rect">
            <a:avLst/>
          </a:prstGeom>
          <a:solidFill>
            <a:srgbClr val="FEFDF1"/>
          </a:solidFill>
        </p:spPr>
        <p:txBody>
          <a:bodyPr wrap="square" rtlCol="0">
            <a:spAutoFit/>
          </a:bodyPr>
          <a:lstStyle/>
          <a:p>
            <a:endParaRPr lang="cs-CZ" dirty="0"/>
          </a:p>
        </p:txBody>
      </p:sp>
      <p:sp>
        <p:nvSpPr>
          <p:cNvPr id="13" name="TextBox 12"/>
          <p:cNvSpPr txBox="1"/>
          <p:nvPr/>
        </p:nvSpPr>
        <p:spPr>
          <a:xfrm>
            <a:off x="7589520" y="4732020"/>
            <a:ext cx="13716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808080"/>
                </a:solidFill>
              </a:defRPr>
            </a:pPr>
            <a:r>
              <a:t>8 /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640" y="417463"/>
            <a:ext cx="1074018" cy="222796"/>
          </a:xfrm>
          <a:prstGeom prst="roundRect">
            <a:avLst>
              <a:gd name="adj" fmla="val 20712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563017" y="458614"/>
            <a:ext cx="1366465" cy="1404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0640" y="693465"/>
            <a:ext cx="7700070" cy="513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10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Uživatelské rozhraní a ověření funkčnosti</a:t>
            </a:r>
            <a:endParaRPr lang="en-US" sz="3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40" y="1406203"/>
            <a:ext cx="1517675" cy="93798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80640" y="2510433"/>
            <a:ext cx="1974205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Dashboard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80640" y="2846784"/>
            <a:ext cx="2616696" cy="351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Přizpůsobený roli uživatele s přehledem aktivních žádostí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3578" y="1406203"/>
            <a:ext cx="1517675" cy="93798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63578" y="2510433"/>
            <a:ext cx="1974205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Detail žádosti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3263578" y="2846784"/>
            <a:ext cx="2616771" cy="351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Historie rozhodnutí, auditní stopa a akce schválení/zamítnutí</a:t>
            </a:r>
            <a:endParaRPr lang="en-US" sz="10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6589" y="1406203"/>
            <a:ext cx="1517675" cy="93798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046589" y="2510433"/>
            <a:ext cx="1974205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Správa pravidel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6046589" y="2846784"/>
            <a:ext cx="2616696" cy="351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Administrátorské rozhraní pro konfiguraci schvalovacích pravidel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480640" y="3416573"/>
            <a:ext cx="2616696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18</a:t>
            </a:r>
            <a:endParaRPr lang="en-US" sz="3550" dirty="0"/>
          </a:p>
        </p:txBody>
      </p:sp>
      <p:sp>
        <p:nvSpPr>
          <p:cNvPr id="15" name="Text 10"/>
          <p:cNvSpPr/>
          <p:nvPr/>
        </p:nvSpPr>
        <p:spPr>
          <a:xfrm>
            <a:off x="801886" y="4038079"/>
            <a:ext cx="1974205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Unit testů</a:t>
            </a:r>
            <a:endParaRPr lang="en-US" sz="1550" dirty="0"/>
          </a:p>
        </p:txBody>
      </p:sp>
      <p:sp>
        <p:nvSpPr>
          <p:cNvPr id="16" name="Text 11"/>
          <p:cNvSpPr/>
          <p:nvPr/>
        </p:nvSpPr>
        <p:spPr>
          <a:xfrm>
            <a:off x="480640" y="4374431"/>
            <a:ext cx="2616696" cy="17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JUnit 5 + Mockito, 0 chyb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3263578" y="3416573"/>
            <a:ext cx="2616771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20</a:t>
            </a:r>
            <a:endParaRPr lang="en-US" sz="3550" dirty="0"/>
          </a:p>
        </p:txBody>
      </p:sp>
      <p:sp>
        <p:nvSpPr>
          <p:cNvPr id="18" name="Text 13"/>
          <p:cNvSpPr/>
          <p:nvPr/>
        </p:nvSpPr>
        <p:spPr>
          <a:xfrm>
            <a:off x="3584823" y="4038079"/>
            <a:ext cx="1974205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Scénářů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3263578" y="4374431"/>
            <a:ext cx="2616771" cy="3515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Manuální funkční testy v produkčním prostředí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6046589" y="3416573"/>
            <a:ext cx="2616696" cy="453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0</a:t>
            </a:r>
            <a:endParaRPr lang="en-US" sz="3550" dirty="0"/>
          </a:p>
        </p:txBody>
      </p:sp>
      <p:sp>
        <p:nvSpPr>
          <p:cNvPr id="21" name="Text 16"/>
          <p:cNvSpPr/>
          <p:nvPr/>
        </p:nvSpPr>
        <p:spPr>
          <a:xfrm>
            <a:off x="6367835" y="4038079"/>
            <a:ext cx="1974205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55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Chyb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6046589" y="4374431"/>
            <a:ext cx="2616696" cy="17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7000"/>
              </a:lnSpc>
              <a:buNone/>
            </a:pPr>
            <a:r>
              <a:rPr lang="en-US" sz="10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Všechny testy úspěšně prošly</a:t>
            </a:r>
            <a:endParaRPr lang="en-US" sz="105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D49B28-E89E-045A-D39F-AAB76C651420}"/>
              </a:ext>
            </a:extLst>
          </p:cNvPr>
          <p:cNvSpPr txBox="1"/>
          <p:nvPr/>
        </p:nvSpPr>
        <p:spPr>
          <a:xfrm>
            <a:off x="8036699" y="4714116"/>
            <a:ext cx="1107301" cy="369332"/>
          </a:xfrm>
          <a:prstGeom prst="rect">
            <a:avLst/>
          </a:prstGeom>
          <a:solidFill>
            <a:srgbClr val="FEFDF1"/>
          </a:solidFill>
        </p:spPr>
        <p:txBody>
          <a:bodyPr wrap="square" rtlCol="0">
            <a:spAutoFit/>
          </a:bodyPr>
          <a:lstStyle/>
          <a:p>
            <a:endParaRPr lang="cs-CZ" dirty="0"/>
          </a:p>
        </p:txBody>
      </p:sp>
      <p:sp>
        <p:nvSpPr>
          <p:cNvPr id="24" name="TextBox 23"/>
          <p:cNvSpPr txBox="1"/>
          <p:nvPr/>
        </p:nvSpPr>
        <p:spPr>
          <a:xfrm>
            <a:off x="7589520" y="4732020"/>
            <a:ext cx="13716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808080"/>
                </a:solidFill>
              </a:defRPr>
            </a:pPr>
            <a:r>
              <a:t>9 /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349" y="363066"/>
            <a:ext cx="512713" cy="208880"/>
          </a:xfrm>
          <a:prstGeom prst="roundRect">
            <a:avLst>
              <a:gd name="adj" fmla="val 21023"/>
            </a:avLst>
          </a:prstGeom>
          <a:solidFill>
            <a:srgbClr val="FFE0C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35707" y="402208"/>
            <a:ext cx="813197" cy="1305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ZÁVĚR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349" y="620092"/>
            <a:ext cx="4988942" cy="488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9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Přínosy a budoucí rozšíření</a:t>
            </a:r>
            <a:endParaRPr lang="en-US" sz="2950" dirty="0"/>
          </a:p>
        </p:txBody>
      </p:sp>
      <p:sp>
        <p:nvSpPr>
          <p:cNvPr id="5" name="Shape 3"/>
          <p:cNvSpPr/>
          <p:nvPr/>
        </p:nvSpPr>
        <p:spPr>
          <a:xfrm>
            <a:off x="363289" y="1289149"/>
            <a:ext cx="4143375" cy="2365400"/>
          </a:xfrm>
          <a:prstGeom prst="roundRect">
            <a:avLst>
              <a:gd name="adj" fmla="val 3978"/>
            </a:avLst>
          </a:prstGeom>
          <a:solidFill>
            <a:srgbClr val="DCFF50">
              <a:alpha val="9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93961" y="1409626"/>
            <a:ext cx="2335857" cy="24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Splněné cíle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493961" y="1774329"/>
            <a:ext cx="3882033" cy="984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Analýza AS-IS procesu ve společnosti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Analýza existujících řešení na trhu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Návrh TO-BE procesu a architektury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Implementace funkčního systému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Ověření funkčnosti se zástupcem firmy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36157" y="1409626"/>
            <a:ext cx="2335857" cy="24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Hlavní přínosy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736157" y="1774329"/>
            <a:ext cx="3955256" cy="779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Centralizovaná evidence požadavků a dokladů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Automatické vynucování schvalovacích pravidel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Auditní stopa každého rozhodnutí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Eliminace neaktuálního účetnictví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36157" y="2673921"/>
            <a:ext cx="2567955" cy="2442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Možná budoucí rozšíření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736157" y="3038624"/>
            <a:ext cx="3955256" cy="573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Integrace s účetním systémem Pohoda (API)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Napojení na SharePoint pro správu příloh</a:t>
            </a:r>
            <a:endParaRPr lang="en-US" sz="1000" dirty="0"/>
          </a:p>
          <a:p>
            <a:pPr marL="342900" indent="-342900" algn="l">
              <a:lnSpc>
                <a:spcPct val="104000"/>
              </a:lnSpc>
              <a:buSzPct val="100000"/>
              <a:buChar char="•"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Reportovací modul pro controlling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349" y="3822725"/>
            <a:ext cx="8229302" cy="9748"/>
          </a:xfrm>
          <a:prstGeom prst="rect">
            <a:avLst/>
          </a:prstGeom>
          <a:solidFill>
            <a:srgbClr val="67534F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CECE811-77BB-8132-2EE1-6AB5462E3A89}"/>
              </a:ext>
            </a:extLst>
          </p:cNvPr>
          <p:cNvSpPr txBox="1"/>
          <p:nvPr/>
        </p:nvSpPr>
        <p:spPr>
          <a:xfrm>
            <a:off x="8036699" y="4714116"/>
            <a:ext cx="1107301" cy="369332"/>
          </a:xfrm>
          <a:prstGeom prst="rect">
            <a:avLst/>
          </a:prstGeom>
          <a:solidFill>
            <a:srgbClr val="FEFDF1"/>
          </a:solidFill>
        </p:spPr>
        <p:txBody>
          <a:bodyPr wrap="square" rtlCol="0">
            <a:spAutoFit/>
          </a:bodyPr>
          <a:lstStyle/>
          <a:p>
            <a:endParaRPr lang="cs-CZ" dirty="0"/>
          </a:p>
        </p:txBody>
      </p:sp>
      <p:sp>
        <p:nvSpPr>
          <p:cNvPr id="14" name="TextBox 13"/>
          <p:cNvSpPr txBox="1"/>
          <p:nvPr/>
        </p:nvSpPr>
        <p:spPr>
          <a:xfrm>
            <a:off x="7589520" y="4732020"/>
            <a:ext cx="13716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808080"/>
                </a:solidFill>
              </a:defRPr>
            </a:pPr>
            <a:r>
              <a:t>10 /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0"/>
          <p:cNvSpPr/>
          <p:nvPr/>
        </p:nvSpPr>
        <p:spPr>
          <a:xfrm>
            <a:off x="457349" y="3822725"/>
            <a:ext cx="8229302" cy="9748"/>
          </a:xfrm>
          <a:prstGeom prst="rect">
            <a:avLst/>
          </a:prstGeom>
          <a:solidFill>
            <a:srgbClr val="67534F">
              <a:alpha val="5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2738994" y="1584169"/>
            <a:ext cx="3463082" cy="987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2350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Děkuji za pozornost</a:t>
            </a:r>
            <a:endParaRPr lang="en-US" sz="23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7640C1-654B-1914-B62B-F8B3B68F85A6}"/>
              </a:ext>
            </a:extLst>
          </p:cNvPr>
          <p:cNvSpPr txBox="1"/>
          <p:nvPr/>
        </p:nvSpPr>
        <p:spPr>
          <a:xfrm>
            <a:off x="8036699" y="4714116"/>
            <a:ext cx="1107301" cy="369332"/>
          </a:xfrm>
          <a:prstGeom prst="rect">
            <a:avLst/>
          </a:prstGeom>
          <a:solidFill>
            <a:srgbClr val="FEFDF1"/>
          </a:solidFill>
        </p:spPr>
        <p:txBody>
          <a:bodyPr wrap="square" rtlCol="0">
            <a:spAutoFit/>
          </a:bodyPr>
          <a:lstStyle/>
          <a:p>
            <a:endParaRPr lang="cs-CZ" dirty="0"/>
          </a:p>
        </p:txBody>
      </p:sp>
      <p:sp>
        <p:nvSpPr>
          <p:cNvPr id="14" name="TextBox 13"/>
          <p:cNvSpPr txBox="1"/>
          <p:nvPr/>
        </p:nvSpPr>
        <p:spPr>
          <a:xfrm>
            <a:off x="7589520" y="4732020"/>
            <a:ext cx="13716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 algn="r">
              <a:defRPr sz="1100">
                <a:solidFill>
                  <a:srgbClr val="808080"/>
                </a:solidFill>
              </a:defRPr>
            </a:pPr>
            <a:r>
              <a:t>11 /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5BD"/>
                </a:solidFill>
              </a:defRPr>
            </a:pPr>
            <a:r>
              <a:t>OTÁZKA VEDOUCÍHO  ·  1/2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020"/>
                </a:solidFill>
              </a:defRPr>
            </a:pPr>
            <a:r>
              <a:t>Integrace s Pohodou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Otázka: Jakým způsobem by bylo možné v budoucnu realizovat plnou integraci s účetním systémem Pohoda a jaké technické problémy očekáváte?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0065BD"/>
                </a:solidFill>
              </a:defRPr>
            </a:pPr>
            <a:r>
              <a:t>Nejefektivnější cesta: mServer (HTTP + XML)</a:t>
            </a:r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t>Pohoda nativně přijímá XML pakety přes HTTP POST — real-time komunikace</a:t>
            </a:r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t>V aplikaci přidat třídu PohodaIntegrationService volanou při přechodu do POSTED</a:t>
            </a:r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t>Sestavení XML dle Pohoda schématu → POST přes RestTemplate → uložení Pohoda ID zpět do AccountingDocument</a:t>
            </a:r>
          </a:p>
          <a:p>
            <a:pPr>
              <a:spcBef>
                <a:spcPts val="800"/>
              </a:spcBef>
              <a:defRPr sz="1500" b="1">
                <a:solidFill>
                  <a:srgbClr val="0065BD"/>
                </a:solidFill>
              </a:defRPr>
            </a:pPr>
            <a:r>
              <a:t>Klíčové technické problémy</a:t>
            </a:r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t>Mapování číselníků — typy dokladů, střediska, dodavatelé přes IČO musí mít synchronizovatelné externí ID</a:t>
            </a:r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t>Konzistence při selhání — Pohoda může XML odmítnout; řeší retry fronta + idempotentní operace</a:t>
            </a:r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t>Síťová topologie — Pohoda běží lokálně, aplikace v cloudu → nutný VPN tunel nebo lokální agent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81E80F-0D7B-3DD3-A4EA-627FA4AD11B6}"/>
              </a:ext>
            </a:extLst>
          </p:cNvPr>
          <p:cNvSpPr txBox="1"/>
          <p:nvPr/>
        </p:nvSpPr>
        <p:spPr>
          <a:xfrm>
            <a:off x="8036699" y="4714116"/>
            <a:ext cx="1107301" cy="369332"/>
          </a:xfrm>
          <a:prstGeom prst="rect">
            <a:avLst/>
          </a:prstGeom>
          <a:solidFill>
            <a:srgbClr val="FEFDF1"/>
          </a:solidFill>
        </p:spPr>
        <p:txBody>
          <a:bodyPr wrap="square" rtlCol="0">
            <a:spAutoFit/>
          </a:bodyPr>
          <a:lstStyle/>
          <a:p>
            <a:endParaRPr lang="cs-CZ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5BD"/>
                </a:solidFill>
              </a:defRPr>
            </a:pPr>
            <a:r>
              <a:t>OTÁZKA VEDOUCÍHO  ·  2/2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020"/>
                </a:solidFill>
              </a:defRPr>
            </a:pPr>
            <a:r>
              <a:t>Paralelní schvalování a delegace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Otázka: Jakým způsobem by bylo možné rozšířit workflow o paralelní schvalování nebo delegaci pravomocí?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8229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0065BD"/>
                </a:solidFill>
              </a:defRPr>
            </a:pPr>
            <a:r>
              <a:t>Paralelní schvalování — rozšíření stávající logiky stepOrder</a:t>
            </a:r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t>Architektura na to je již připravená — ApprovalStep má atribut stepOrder</a:t>
            </a:r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t>Povolit více kroků se stejným stepOrder = paralelní schvalovatelé</a:t>
            </a:r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t>Úprava getActiveStep() — vracet kolekci pending kroků daného stepOrder</a:t>
            </a:r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t>Postup workflow až po schválení všech paralelních kroků</a:t>
            </a:r>
          </a:p>
          <a:p>
            <a:pPr>
              <a:spcBef>
                <a:spcPts val="800"/>
              </a:spcBef>
              <a:defRPr sz="1500" b="1">
                <a:solidFill>
                  <a:srgbClr val="0065BD"/>
                </a:solidFill>
              </a:defRPr>
            </a:pPr>
            <a:r>
              <a:t>Delegace — nová entita ApprovalDelegation</a:t>
            </a:r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t>Atributy: delegující, zástupce, platnost od/do, typ delegace</a:t>
            </a:r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t>ApprovalRoutingService při sestavování kroků zkontroluje aktivní delegaci</a:t>
            </a:r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t>Auditní stopa zaznamenává oba — původní schvalovatel i zástupce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68A037-6467-CEC9-0347-A5AA2CB1F983}"/>
              </a:ext>
            </a:extLst>
          </p:cNvPr>
          <p:cNvSpPr txBox="1"/>
          <p:nvPr/>
        </p:nvSpPr>
        <p:spPr>
          <a:xfrm>
            <a:off x="8036699" y="4714116"/>
            <a:ext cx="1107301" cy="369332"/>
          </a:xfrm>
          <a:prstGeom prst="rect">
            <a:avLst/>
          </a:prstGeom>
          <a:solidFill>
            <a:srgbClr val="FEFDF1"/>
          </a:solidFill>
        </p:spPr>
        <p:txBody>
          <a:bodyPr wrap="square" rtlCol="0">
            <a:spAutoFit/>
          </a:bodyPr>
          <a:lstStyle/>
          <a:p>
            <a:endParaRPr lang="cs-CZ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5BD"/>
                </a:solidFill>
              </a:defRPr>
            </a:pPr>
            <a:r>
              <a:t>OTÁZKA OPONENTA  ·  1/3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020"/>
                </a:solidFill>
              </a:defRPr>
            </a:pPr>
            <a:r>
              <a:t>Metriky efektivity systému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Otázka: Jakými konkrétními metrikami byste hodnotil efektivitu systému oproti původnímu procesu?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8229600" cy="2344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0065BD"/>
                </a:solidFill>
              </a:defRPr>
            </a:pPr>
            <a:r>
              <a:rPr dirty="0" err="1"/>
              <a:t>Klíčová</a:t>
            </a:r>
            <a:r>
              <a:rPr dirty="0"/>
              <a:t> </a:t>
            </a:r>
            <a:r>
              <a:rPr dirty="0" err="1"/>
              <a:t>metrika</a:t>
            </a:r>
            <a:r>
              <a:rPr dirty="0"/>
              <a:t>: </a:t>
            </a:r>
            <a:r>
              <a:rPr dirty="0" err="1"/>
              <a:t>doba</a:t>
            </a:r>
            <a:r>
              <a:rPr dirty="0"/>
              <a:t> </a:t>
            </a:r>
            <a:r>
              <a:rPr dirty="0" err="1"/>
              <a:t>zpracování</a:t>
            </a:r>
            <a:r>
              <a:rPr dirty="0"/>
              <a:t> end-to-end</a:t>
            </a:r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rPr dirty="0" err="1"/>
              <a:t>Čas</a:t>
            </a:r>
            <a:r>
              <a:rPr dirty="0"/>
              <a:t> od </a:t>
            </a:r>
            <a:r>
              <a:rPr dirty="0" err="1"/>
              <a:t>podání</a:t>
            </a:r>
            <a:r>
              <a:rPr dirty="0"/>
              <a:t> </a:t>
            </a:r>
            <a:r>
              <a:rPr dirty="0" err="1"/>
              <a:t>žádosti</a:t>
            </a:r>
            <a:r>
              <a:rPr dirty="0"/>
              <a:t> po </a:t>
            </a:r>
            <a:r>
              <a:rPr dirty="0" err="1"/>
              <a:t>finální</a:t>
            </a:r>
            <a:r>
              <a:rPr dirty="0"/>
              <a:t> </a:t>
            </a:r>
            <a:r>
              <a:rPr dirty="0" err="1"/>
              <a:t>schválení</a:t>
            </a:r>
            <a:r>
              <a:rPr dirty="0"/>
              <a:t> — </a:t>
            </a:r>
            <a:r>
              <a:rPr dirty="0" err="1"/>
              <a:t>porovnání</a:t>
            </a:r>
            <a:r>
              <a:rPr dirty="0"/>
              <a:t> </a:t>
            </a:r>
            <a:r>
              <a:rPr dirty="0" err="1"/>
              <a:t>před</a:t>
            </a:r>
            <a:r>
              <a:rPr dirty="0"/>
              <a:t>/po </a:t>
            </a:r>
            <a:r>
              <a:rPr dirty="0" err="1"/>
              <a:t>nasazení</a:t>
            </a: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rPr dirty="0" err="1"/>
              <a:t>Doba</a:t>
            </a:r>
            <a:r>
              <a:rPr dirty="0"/>
              <a:t> </a:t>
            </a:r>
            <a:r>
              <a:rPr dirty="0" err="1"/>
              <a:t>zpracování</a:t>
            </a:r>
            <a:r>
              <a:rPr dirty="0"/>
              <a:t> </a:t>
            </a:r>
            <a:r>
              <a:rPr dirty="0" err="1"/>
              <a:t>dokladu</a:t>
            </a:r>
            <a:r>
              <a:rPr dirty="0"/>
              <a:t> </a:t>
            </a:r>
            <a:r>
              <a:rPr dirty="0" err="1"/>
              <a:t>účetní</a:t>
            </a:r>
            <a:r>
              <a:rPr dirty="0"/>
              <a:t> (od SUBMITTED po POSTED) — </a:t>
            </a:r>
            <a:r>
              <a:rPr dirty="0" err="1"/>
              <a:t>měřeno</a:t>
            </a:r>
            <a:r>
              <a:rPr dirty="0"/>
              <a:t> </a:t>
            </a:r>
            <a:r>
              <a:rPr dirty="0" err="1"/>
              <a:t>přes</a:t>
            </a:r>
            <a:r>
              <a:rPr dirty="0"/>
              <a:t> </a:t>
            </a:r>
            <a:r>
              <a:rPr dirty="0" err="1"/>
              <a:t>audit_log</a:t>
            </a: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rPr dirty="0" err="1"/>
              <a:t>Cíl</a:t>
            </a:r>
            <a:r>
              <a:rPr dirty="0"/>
              <a:t>: </a:t>
            </a:r>
            <a:r>
              <a:rPr dirty="0" err="1"/>
              <a:t>zkrácení</a:t>
            </a:r>
            <a:r>
              <a:rPr dirty="0"/>
              <a:t> o </a:t>
            </a:r>
            <a:r>
              <a:rPr dirty="0" err="1"/>
              <a:t>desítky</a:t>
            </a:r>
            <a:r>
              <a:rPr dirty="0"/>
              <a:t> </a:t>
            </a:r>
            <a:r>
              <a:rPr dirty="0" err="1"/>
              <a:t>procent</a:t>
            </a:r>
            <a:r>
              <a:rPr dirty="0"/>
              <a:t> </a:t>
            </a:r>
            <a:r>
              <a:rPr dirty="0" err="1"/>
              <a:t>díky</a:t>
            </a:r>
            <a:r>
              <a:rPr dirty="0"/>
              <a:t> </a:t>
            </a:r>
            <a:r>
              <a:rPr dirty="0" err="1"/>
              <a:t>automatickým</a:t>
            </a:r>
            <a:r>
              <a:rPr dirty="0"/>
              <a:t> </a:t>
            </a:r>
            <a:r>
              <a:rPr dirty="0" err="1"/>
              <a:t>notifikacím</a:t>
            </a:r>
            <a:endParaRPr dirty="0"/>
          </a:p>
          <a:p>
            <a:pPr>
              <a:spcBef>
                <a:spcPts val="800"/>
              </a:spcBef>
              <a:defRPr sz="1500" b="1">
                <a:solidFill>
                  <a:srgbClr val="0065BD"/>
                </a:solidFill>
              </a:defRPr>
            </a:pPr>
            <a:r>
              <a:rPr lang="en-GB" b="1" i="0" dirty="0" err="1">
                <a:solidFill>
                  <a:srgbClr val="0070C0"/>
                </a:solidFill>
                <a:effectLst/>
              </a:rPr>
              <a:t>Metriky</a:t>
            </a:r>
            <a:r>
              <a:rPr lang="en-GB" b="1" i="0" dirty="0">
                <a:solidFill>
                  <a:srgbClr val="0070C0"/>
                </a:solidFill>
                <a:effectLst/>
              </a:rPr>
              <a:t> </a:t>
            </a:r>
            <a:r>
              <a:rPr lang="en-GB" b="1" i="0" dirty="0" err="1">
                <a:solidFill>
                  <a:srgbClr val="0070C0"/>
                </a:solidFill>
                <a:effectLst/>
              </a:rPr>
              <a:t>kvality</a:t>
            </a:r>
            <a:r>
              <a:rPr lang="en-GB" b="1" i="0" dirty="0">
                <a:solidFill>
                  <a:srgbClr val="0070C0"/>
                </a:solidFill>
                <a:effectLst/>
              </a:rPr>
              <a:t> </a:t>
            </a:r>
            <a:r>
              <a:rPr lang="en-GB" b="1" i="0" dirty="0" err="1">
                <a:solidFill>
                  <a:srgbClr val="0070C0"/>
                </a:solidFill>
                <a:effectLst/>
              </a:rPr>
              <a:t>procesu</a:t>
            </a:r>
            <a:endParaRPr lang="en-GB" b="1" i="0" dirty="0">
              <a:solidFill>
                <a:srgbClr val="0070C0"/>
              </a:solidFill>
              <a:effectLst/>
            </a:endParaRPr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rPr lang="en-GB" dirty="0"/>
              <a:t>% </a:t>
            </a:r>
            <a:r>
              <a:rPr lang="en-GB" dirty="0" err="1"/>
              <a:t>žádostí</a:t>
            </a:r>
            <a:r>
              <a:rPr lang="en-GB" dirty="0"/>
              <a:t> s </a:t>
            </a:r>
            <a:r>
              <a:rPr lang="en-GB" dirty="0" err="1"/>
              <a:t>úplnou</a:t>
            </a:r>
            <a:r>
              <a:rPr lang="en-GB" dirty="0"/>
              <a:t> </a:t>
            </a:r>
            <a:r>
              <a:rPr lang="en-GB" dirty="0" err="1"/>
              <a:t>auditní</a:t>
            </a:r>
            <a:r>
              <a:rPr lang="en-GB" dirty="0"/>
              <a:t> </a:t>
            </a:r>
            <a:r>
              <a:rPr lang="en-GB" dirty="0" err="1"/>
              <a:t>stopou</a:t>
            </a:r>
            <a:r>
              <a:rPr lang="en-GB" dirty="0"/>
              <a:t> (</a:t>
            </a:r>
            <a:r>
              <a:rPr lang="en-GB" dirty="0" err="1"/>
              <a:t>cíl</a:t>
            </a:r>
            <a:r>
              <a:rPr lang="en-GB" dirty="0"/>
              <a:t> 100 % </a:t>
            </a:r>
            <a:r>
              <a:rPr lang="en-GB" dirty="0" err="1"/>
              <a:t>oproti</a:t>
            </a:r>
            <a:r>
              <a:rPr lang="en-GB" dirty="0"/>
              <a:t> </a:t>
            </a:r>
            <a:r>
              <a:rPr lang="en-GB" dirty="0" err="1"/>
              <a:t>nejasné</a:t>
            </a:r>
            <a:r>
              <a:rPr lang="en-GB" dirty="0"/>
              <a:t> </a:t>
            </a:r>
            <a:r>
              <a:rPr lang="en-GB" dirty="0" err="1"/>
              <a:t>situaci</a:t>
            </a:r>
            <a:r>
              <a:rPr lang="en-GB" dirty="0"/>
              <a:t> v XLS </a:t>
            </a:r>
            <a:r>
              <a:rPr lang="en-GB" dirty="0" err="1"/>
              <a:t>tabulkách</a:t>
            </a:r>
            <a:r>
              <a:rPr lang="en-GB" dirty="0"/>
              <a:t>)</a:t>
            </a:r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rPr dirty="0"/>
              <a:t>% </a:t>
            </a:r>
            <a:r>
              <a:rPr dirty="0" err="1"/>
              <a:t>žádostí</a:t>
            </a:r>
            <a:r>
              <a:rPr dirty="0"/>
              <a:t> </a:t>
            </a:r>
            <a:r>
              <a:rPr dirty="0" err="1"/>
              <a:t>vrácených</a:t>
            </a:r>
            <a:r>
              <a:rPr dirty="0"/>
              <a:t> k </a:t>
            </a:r>
            <a:r>
              <a:rPr dirty="0" err="1"/>
              <a:t>doplnění</a:t>
            </a:r>
            <a:r>
              <a:rPr dirty="0"/>
              <a:t> (</a:t>
            </a:r>
            <a:r>
              <a:rPr dirty="0" err="1"/>
              <a:t>signál</a:t>
            </a:r>
            <a:r>
              <a:rPr dirty="0"/>
              <a:t> o </a:t>
            </a:r>
            <a:r>
              <a:rPr dirty="0" err="1"/>
              <a:t>kvalitě</a:t>
            </a:r>
            <a:r>
              <a:rPr dirty="0"/>
              <a:t> UX a </a:t>
            </a:r>
            <a:r>
              <a:rPr dirty="0" err="1"/>
              <a:t>validačních</a:t>
            </a:r>
            <a:r>
              <a:rPr dirty="0"/>
              <a:t> </a:t>
            </a:r>
            <a:r>
              <a:rPr dirty="0" err="1"/>
              <a:t>pravidel</a:t>
            </a:r>
            <a:r>
              <a:rPr dirty="0"/>
              <a:t>)</a:t>
            </a:r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rPr dirty="0" err="1"/>
              <a:t>Doba</a:t>
            </a:r>
            <a:r>
              <a:rPr dirty="0"/>
              <a:t> </a:t>
            </a:r>
            <a:r>
              <a:rPr dirty="0" err="1"/>
              <a:t>dohledání</a:t>
            </a:r>
            <a:r>
              <a:rPr dirty="0"/>
              <a:t> </a:t>
            </a:r>
            <a:r>
              <a:rPr dirty="0" err="1"/>
              <a:t>historie</a:t>
            </a:r>
            <a:r>
              <a:rPr dirty="0"/>
              <a:t> </a:t>
            </a:r>
            <a:r>
              <a:rPr dirty="0" err="1"/>
              <a:t>konkrétního</a:t>
            </a:r>
            <a:r>
              <a:rPr dirty="0"/>
              <a:t> </a:t>
            </a:r>
            <a:r>
              <a:rPr dirty="0" err="1"/>
              <a:t>schválení</a:t>
            </a:r>
            <a:r>
              <a:rPr dirty="0"/>
              <a:t> — </a:t>
            </a:r>
            <a:r>
              <a:rPr dirty="0" err="1"/>
              <a:t>sekundy</a:t>
            </a:r>
            <a:r>
              <a:rPr dirty="0"/>
              <a:t> v UI vs. </a:t>
            </a:r>
            <a:r>
              <a:rPr dirty="0" err="1"/>
              <a:t>desítky</a:t>
            </a:r>
            <a:r>
              <a:rPr dirty="0"/>
              <a:t> </a:t>
            </a:r>
            <a:r>
              <a:rPr dirty="0" err="1"/>
              <a:t>minut</a:t>
            </a:r>
            <a:r>
              <a:rPr dirty="0"/>
              <a:t> </a:t>
            </a:r>
            <a:r>
              <a:rPr dirty="0" err="1"/>
              <a:t>prohledávání</a:t>
            </a:r>
            <a:r>
              <a:rPr dirty="0"/>
              <a:t> e-</a:t>
            </a:r>
            <a:r>
              <a:rPr dirty="0" err="1"/>
              <a:t>mailů</a:t>
            </a:r>
            <a:endParaRPr dirty="0"/>
          </a:p>
          <a:p>
            <a:pPr>
              <a:spcBef>
                <a:spcPts val="800"/>
              </a:spcBef>
              <a:defRPr sz="1500" b="1">
                <a:solidFill>
                  <a:srgbClr val="0065BD"/>
                </a:solidFill>
              </a:defRPr>
            </a:pPr>
            <a:r>
              <a:rPr dirty="0" err="1"/>
              <a:t>Sběr</a:t>
            </a:r>
            <a:r>
              <a:rPr dirty="0"/>
              <a:t> </a:t>
            </a:r>
            <a:r>
              <a:rPr dirty="0" err="1"/>
              <a:t>dat</a:t>
            </a:r>
            <a:r>
              <a:rPr dirty="0"/>
              <a:t>: </a:t>
            </a:r>
            <a:r>
              <a:rPr dirty="0" err="1"/>
              <a:t>audit_log</a:t>
            </a:r>
            <a:r>
              <a:rPr dirty="0"/>
              <a:t> </a:t>
            </a:r>
            <a:r>
              <a:rPr dirty="0" err="1"/>
              <a:t>poskytuje</a:t>
            </a:r>
            <a:r>
              <a:rPr dirty="0"/>
              <a:t> </a:t>
            </a:r>
            <a:r>
              <a:rPr dirty="0" err="1"/>
              <a:t>všechna</a:t>
            </a:r>
            <a:r>
              <a:rPr dirty="0"/>
              <a:t> </a:t>
            </a:r>
            <a:r>
              <a:rPr dirty="0" err="1"/>
              <a:t>potřebná</a:t>
            </a:r>
            <a:r>
              <a:rPr dirty="0"/>
              <a:t> timestamps </a:t>
            </a:r>
            <a:r>
              <a:rPr dirty="0" err="1"/>
              <a:t>automaticky</a:t>
            </a:r>
            <a:r>
              <a:rPr dirty="0"/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E8D014-1FDC-5802-D043-B328F36190E1}"/>
              </a:ext>
            </a:extLst>
          </p:cNvPr>
          <p:cNvSpPr txBox="1"/>
          <p:nvPr/>
        </p:nvSpPr>
        <p:spPr>
          <a:xfrm>
            <a:off x="8036699" y="4714116"/>
            <a:ext cx="1107301" cy="369332"/>
          </a:xfrm>
          <a:prstGeom prst="rect">
            <a:avLst/>
          </a:prstGeom>
          <a:solidFill>
            <a:srgbClr val="FEFDF1"/>
          </a:solidFill>
        </p:spPr>
        <p:txBody>
          <a:bodyPr wrap="square" rtlCol="0">
            <a:spAutoFit/>
          </a:bodyPr>
          <a:lstStyle/>
          <a:p>
            <a:endParaRPr lang="cs-CZ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5BD"/>
                </a:solidFill>
              </a:defRPr>
            </a:pPr>
            <a:r>
              <a:t>OTÁZKA OPONENTA  ·  2/3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020"/>
                </a:solidFill>
              </a:defRPr>
            </a:pPr>
            <a:r>
              <a:t>Provozní bezpečnost systému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Otázka: Jak byste řešil provozní bezpečnost — zálohování DB, řízení přístupů, citlivé dokumenty?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8229600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0065BD"/>
                </a:solidFill>
              </a:defRPr>
            </a:pPr>
            <a:r>
              <a:rPr dirty="0" err="1"/>
              <a:t>Zálohování</a:t>
            </a:r>
            <a:r>
              <a:rPr dirty="0"/>
              <a:t>: Point-In-Time Recovery (PITR)</a:t>
            </a:r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rPr dirty="0"/>
              <a:t>PostgreSQL WAL log streaming — </a:t>
            </a:r>
            <a:r>
              <a:rPr dirty="0" err="1"/>
              <a:t>obnova</a:t>
            </a:r>
            <a:r>
              <a:rPr dirty="0"/>
              <a:t> do </a:t>
            </a:r>
            <a:r>
              <a:rPr dirty="0" err="1"/>
              <a:t>libovolného</a:t>
            </a:r>
            <a:r>
              <a:rPr dirty="0"/>
              <a:t> </a:t>
            </a:r>
            <a:r>
              <a:rPr dirty="0" err="1"/>
              <a:t>bodu</a:t>
            </a:r>
            <a:r>
              <a:rPr dirty="0"/>
              <a:t> v </a:t>
            </a:r>
            <a:r>
              <a:rPr dirty="0" err="1"/>
              <a:t>čase</a:t>
            </a: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rPr dirty="0" err="1"/>
              <a:t>Denní</a:t>
            </a:r>
            <a:r>
              <a:rPr dirty="0"/>
              <a:t> </a:t>
            </a:r>
            <a:r>
              <a:rPr dirty="0" err="1"/>
              <a:t>snapshoty</a:t>
            </a:r>
            <a:r>
              <a:rPr dirty="0"/>
              <a:t> s </a:t>
            </a:r>
            <a:r>
              <a:rPr dirty="0" err="1"/>
              <a:t>retencí</a:t>
            </a:r>
            <a:r>
              <a:rPr dirty="0"/>
              <a:t> 30 </a:t>
            </a:r>
            <a:r>
              <a:rPr dirty="0" err="1"/>
              <a:t>dní</a:t>
            </a:r>
            <a:r>
              <a:rPr dirty="0"/>
              <a:t> + </a:t>
            </a:r>
            <a:r>
              <a:rPr dirty="0" err="1"/>
              <a:t>geograficky</a:t>
            </a:r>
            <a:r>
              <a:rPr dirty="0"/>
              <a:t> </a:t>
            </a:r>
            <a:r>
              <a:rPr dirty="0" err="1"/>
              <a:t>oddělené</a:t>
            </a:r>
            <a:r>
              <a:rPr dirty="0"/>
              <a:t> </a:t>
            </a:r>
            <a:r>
              <a:rPr dirty="0" err="1"/>
              <a:t>úložiště</a:t>
            </a: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rPr dirty="0" err="1"/>
              <a:t>Pravidelné</a:t>
            </a:r>
            <a:r>
              <a:rPr dirty="0"/>
              <a:t> </a:t>
            </a:r>
            <a:r>
              <a:rPr dirty="0" err="1"/>
              <a:t>testování</a:t>
            </a:r>
            <a:r>
              <a:rPr dirty="0"/>
              <a:t> </a:t>
            </a:r>
            <a:r>
              <a:rPr dirty="0" err="1"/>
              <a:t>obnovy</a:t>
            </a:r>
            <a:r>
              <a:rPr dirty="0"/>
              <a:t> (</a:t>
            </a:r>
            <a:r>
              <a:rPr dirty="0" err="1"/>
              <a:t>záloha</a:t>
            </a:r>
            <a:r>
              <a:rPr dirty="0"/>
              <a:t> bez </a:t>
            </a:r>
            <a:r>
              <a:rPr dirty="0" err="1"/>
              <a:t>testu</a:t>
            </a:r>
            <a:r>
              <a:rPr dirty="0"/>
              <a:t> = </a:t>
            </a:r>
            <a:r>
              <a:rPr dirty="0" err="1"/>
              <a:t>riziko</a:t>
            </a:r>
            <a:r>
              <a:rPr dirty="0"/>
              <a:t>, ne </a:t>
            </a:r>
            <a:r>
              <a:rPr dirty="0" err="1"/>
              <a:t>jistota</a:t>
            </a:r>
            <a:r>
              <a:rPr dirty="0"/>
              <a:t>)</a:t>
            </a:r>
          </a:p>
          <a:p>
            <a:pPr>
              <a:spcBef>
                <a:spcPts val="800"/>
              </a:spcBef>
              <a:defRPr sz="1500" b="1">
                <a:solidFill>
                  <a:srgbClr val="0065BD"/>
                </a:solidFill>
              </a:defRPr>
            </a:pPr>
            <a:r>
              <a:rPr dirty="0" err="1"/>
              <a:t>Citlivé</a:t>
            </a:r>
            <a:r>
              <a:rPr dirty="0"/>
              <a:t> </a:t>
            </a:r>
            <a:r>
              <a:rPr dirty="0" err="1"/>
              <a:t>dokumenty</a:t>
            </a:r>
            <a:r>
              <a:rPr dirty="0"/>
              <a:t>: </a:t>
            </a:r>
            <a:r>
              <a:rPr dirty="0" err="1"/>
              <a:t>oddělené</a:t>
            </a:r>
            <a:r>
              <a:rPr dirty="0"/>
              <a:t> </a:t>
            </a:r>
            <a:r>
              <a:rPr dirty="0" err="1"/>
              <a:t>úložiště</a:t>
            </a:r>
            <a:r>
              <a:rPr dirty="0"/>
              <a:t> s </a:t>
            </a:r>
            <a:r>
              <a:rPr dirty="0" err="1"/>
              <a:t>vlastním</a:t>
            </a:r>
            <a:r>
              <a:rPr dirty="0"/>
              <a:t> </a:t>
            </a:r>
            <a:r>
              <a:rPr dirty="0" err="1"/>
              <a:t>řízením</a:t>
            </a:r>
            <a:r>
              <a:rPr dirty="0"/>
              <a:t> </a:t>
            </a:r>
            <a:r>
              <a:rPr dirty="0" err="1"/>
              <a:t>přístupů</a:t>
            </a: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rPr dirty="0" err="1"/>
              <a:t>Aplikace</a:t>
            </a:r>
            <a:r>
              <a:rPr dirty="0"/>
              <a:t> </a:t>
            </a:r>
            <a:r>
              <a:rPr dirty="0" err="1"/>
              <a:t>ukládá</a:t>
            </a:r>
            <a:r>
              <a:rPr dirty="0"/>
              <a:t> </a:t>
            </a:r>
            <a:r>
              <a:rPr dirty="0" err="1"/>
              <a:t>pouze</a:t>
            </a:r>
            <a:r>
              <a:rPr dirty="0"/>
              <a:t> </a:t>
            </a:r>
            <a:r>
              <a:rPr dirty="0" err="1"/>
              <a:t>odkaz</a:t>
            </a:r>
            <a:r>
              <a:rPr dirty="0"/>
              <a:t> (URL), </a:t>
            </a:r>
            <a:r>
              <a:rPr dirty="0" err="1"/>
              <a:t>nikoli</a:t>
            </a:r>
            <a:r>
              <a:rPr dirty="0"/>
              <a:t> </a:t>
            </a:r>
            <a:r>
              <a:rPr dirty="0" err="1"/>
              <a:t>samotný</a:t>
            </a:r>
            <a:r>
              <a:rPr dirty="0"/>
              <a:t> </a:t>
            </a:r>
            <a:r>
              <a:rPr dirty="0" err="1"/>
              <a:t>soubor</a:t>
            </a: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rPr dirty="0" err="1"/>
              <a:t>Soubory</a:t>
            </a:r>
            <a:r>
              <a:rPr dirty="0"/>
              <a:t> v </a:t>
            </a:r>
            <a:r>
              <a:rPr dirty="0" err="1"/>
              <a:t>SharePointu</a:t>
            </a:r>
            <a:r>
              <a:rPr dirty="0"/>
              <a:t> </a:t>
            </a:r>
            <a:r>
              <a:rPr dirty="0" err="1"/>
              <a:t>firmy</a:t>
            </a:r>
            <a:r>
              <a:rPr dirty="0"/>
              <a:t> s </a:t>
            </a:r>
            <a:r>
              <a:rPr dirty="0" err="1"/>
              <a:t>nativním</a:t>
            </a:r>
            <a:r>
              <a:rPr dirty="0"/>
              <a:t> access control + audit</a:t>
            </a:r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rPr dirty="0" err="1"/>
              <a:t>Šifrování</a:t>
            </a:r>
            <a:r>
              <a:rPr dirty="0"/>
              <a:t> v </a:t>
            </a:r>
            <a:r>
              <a:rPr dirty="0" err="1"/>
              <a:t>přenosu</a:t>
            </a:r>
            <a:r>
              <a:rPr dirty="0"/>
              <a:t> HTTPS (TLS 1.3, </a:t>
            </a:r>
            <a:r>
              <a:rPr dirty="0" err="1"/>
              <a:t>již</a:t>
            </a:r>
            <a:r>
              <a:rPr dirty="0"/>
              <a:t> </a:t>
            </a:r>
            <a:r>
              <a:rPr dirty="0" err="1"/>
              <a:t>implementováno</a:t>
            </a:r>
            <a:r>
              <a:rPr dirty="0"/>
              <a:t>), </a:t>
            </a:r>
            <a:r>
              <a:rPr dirty="0" err="1"/>
              <a:t>hesla</a:t>
            </a:r>
            <a:r>
              <a:rPr dirty="0"/>
              <a:t> </a:t>
            </a:r>
            <a:r>
              <a:rPr dirty="0" err="1"/>
              <a:t>BCrypt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53261C4-66A5-D048-2580-432E933A353C}"/>
              </a:ext>
            </a:extLst>
          </p:cNvPr>
          <p:cNvSpPr txBox="1"/>
          <p:nvPr/>
        </p:nvSpPr>
        <p:spPr>
          <a:xfrm>
            <a:off x="8036699" y="4714116"/>
            <a:ext cx="1107301" cy="369332"/>
          </a:xfrm>
          <a:prstGeom prst="rect">
            <a:avLst/>
          </a:prstGeom>
          <a:solidFill>
            <a:srgbClr val="FEFDF1"/>
          </a:solidFill>
        </p:spPr>
        <p:txBody>
          <a:bodyPr wrap="square" rtlCol="0">
            <a:spAutoFit/>
          </a:bodyPr>
          <a:lstStyle/>
          <a:p>
            <a:endParaRPr lang="cs-CZ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65BD"/>
                </a:solidFill>
              </a:defRPr>
            </a:pPr>
            <a:r>
              <a:t>OTÁZKA OPONENTA  ·  3/3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02020"/>
                </a:solidFill>
              </a:defRPr>
            </a:pPr>
            <a:r>
              <a:t>Další etapa integrace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555555"/>
                </a:solidFill>
              </a:defRPr>
            </a:pPr>
            <a:r>
              <a:t>Otázka: Jak by měla vypadat další etapa integrace s Pohodou, INTUO CRM a SharePointem?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57400"/>
            <a:ext cx="8229600" cy="2318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500" b="1">
                <a:solidFill>
                  <a:srgbClr val="0065BD"/>
                </a:solidFill>
              </a:defRPr>
            </a:pPr>
            <a:r>
              <a:rPr dirty="0" err="1"/>
              <a:t>Pohoda</a:t>
            </a:r>
            <a:r>
              <a:rPr dirty="0"/>
              <a:t> — </a:t>
            </a:r>
            <a:r>
              <a:rPr dirty="0" err="1"/>
              <a:t>mServer</a:t>
            </a:r>
            <a:r>
              <a:rPr dirty="0"/>
              <a:t> (HTTP + XML)</a:t>
            </a:r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rPr dirty="0" err="1"/>
              <a:t>Jednosměrný</a:t>
            </a:r>
            <a:r>
              <a:rPr dirty="0"/>
              <a:t> export </a:t>
            </a:r>
            <a:r>
              <a:rPr dirty="0" err="1"/>
              <a:t>schválených</a:t>
            </a:r>
            <a:r>
              <a:rPr dirty="0"/>
              <a:t> </a:t>
            </a:r>
            <a:r>
              <a:rPr dirty="0" err="1"/>
              <a:t>dokladů</a:t>
            </a:r>
            <a:r>
              <a:rPr dirty="0"/>
              <a:t> </a:t>
            </a:r>
            <a:r>
              <a:rPr dirty="0" err="1"/>
              <a:t>přes</a:t>
            </a:r>
            <a:r>
              <a:rPr dirty="0"/>
              <a:t> </a:t>
            </a:r>
            <a:r>
              <a:rPr dirty="0" err="1"/>
              <a:t>lokální</a:t>
            </a:r>
            <a:r>
              <a:rPr dirty="0"/>
              <a:t> </a:t>
            </a:r>
            <a:r>
              <a:rPr dirty="0" err="1"/>
              <a:t>mServer</a:t>
            </a: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rPr dirty="0" err="1"/>
              <a:t>Detaily</a:t>
            </a:r>
            <a:r>
              <a:rPr dirty="0"/>
              <a:t> a </a:t>
            </a:r>
            <a:r>
              <a:rPr dirty="0" err="1"/>
              <a:t>rizika</a:t>
            </a:r>
            <a:r>
              <a:rPr dirty="0"/>
              <a:t> viz </a:t>
            </a:r>
            <a:r>
              <a:rPr dirty="0" err="1"/>
              <a:t>odpověď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otázku</a:t>
            </a:r>
            <a:r>
              <a:rPr dirty="0"/>
              <a:t> 1 </a:t>
            </a:r>
            <a:r>
              <a:rPr dirty="0" err="1"/>
              <a:t>vedoucího</a:t>
            </a:r>
            <a:endParaRPr dirty="0"/>
          </a:p>
          <a:p>
            <a:pPr>
              <a:spcBef>
                <a:spcPts val="800"/>
              </a:spcBef>
              <a:defRPr sz="1500" b="1">
                <a:solidFill>
                  <a:srgbClr val="0065BD"/>
                </a:solidFill>
              </a:defRPr>
            </a:pPr>
            <a:r>
              <a:rPr dirty="0"/>
              <a:t>INTUO CRM — REST API s lookup </a:t>
            </a:r>
            <a:r>
              <a:rPr dirty="0" err="1"/>
              <a:t>vazbou</a:t>
            </a: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rPr dirty="0"/>
              <a:t>Autocomplete </a:t>
            </a:r>
            <a:r>
              <a:rPr dirty="0" err="1"/>
              <a:t>vyhledání</a:t>
            </a:r>
            <a:r>
              <a:rPr dirty="0"/>
              <a:t> </a:t>
            </a:r>
            <a:r>
              <a:rPr dirty="0" err="1"/>
              <a:t>zakázky</a:t>
            </a:r>
            <a:r>
              <a:rPr dirty="0"/>
              <a:t> v INTUO </a:t>
            </a:r>
            <a:r>
              <a:rPr dirty="0" err="1"/>
              <a:t>přímo</a:t>
            </a:r>
            <a:r>
              <a:rPr dirty="0"/>
              <a:t>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formuláři</a:t>
            </a:r>
            <a:r>
              <a:rPr dirty="0"/>
              <a:t> </a:t>
            </a:r>
            <a:r>
              <a:rPr dirty="0" err="1"/>
              <a:t>žádosti</a:t>
            </a: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rPr dirty="0" err="1"/>
              <a:t>Uložení</a:t>
            </a:r>
            <a:r>
              <a:rPr dirty="0"/>
              <a:t> </a:t>
            </a:r>
            <a:r>
              <a:rPr dirty="0" err="1"/>
              <a:t>externího</a:t>
            </a:r>
            <a:r>
              <a:rPr dirty="0"/>
              <a:t> ID + </a:t>
            </a:r>
            <a:r>
              <a:rPr dirty="0" err="1"/>
              <a:t>zpětný</a:t>
            </a:r>
            <a:r>
              <a:rPr dirty="0"/>
              <a:t> </a:t>
            </a:r>
            <a:r>
              <a:rPr dirty="0" err="1"/>
              <a:t>odkaz</a:t>
            </a:r>
            <a:r>
              <a:rPr dirty="0"/>
              <a:t> do INTUO v </a:t>
            </a:r>
            <a:r>
              <a:rPr dirty="0" err="1"/>
              <a:t>detailu</a:t>
            </a:r>
            <a:r>
              <a:rPr dirty="0"/>
              <a:t> </a:t>
            </a:r>
            <a:r>
              <a:rPr dirty="0" err="1"/>
              <a:t>žádosti</a:t>
            </a:r>
            <a:endParaRPr dirty="0"/>
          </a:p>
          <a:p>
            <a:pPr>
              <a:spcBef>
                <a:spcPts val="800"/>
              </a:spcBef>
              <a:defRPr sz="1500" b="1">
                <a:solidFill>
                  <a:srgbClr val="0065BD"/>
                </a:solidFill>
              </a:defRPr>
            </a:pPr>
            <a:r>
              <a:rPr dirty="0"/>
              <a:t>SharePoint — Microsoft Graph API</a:t>
            </a:r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rPr dirty="0"/>
              <a:t>Upload </a:t>
            </a:r>
            <a:r>
              <a:rPr dirty="0" err="1"/>
              <a:t>příloh</a:t>
            </a:r>
            <a:r>
              <a:rPr dirty="0"/>
              <a:t> </a:t>
            </a:r>
            <a:r>
              <a:rPr dirty="0" err="1"/>
              <a:t>přímo</a:t>
            </a:r>
            <a:r>
              <a:rPr dirty="0"/>
              <a:t> z </a:t>
            </a:r>
            <a:r>
              <a:rPr dirty="0" err="1"/>
              <a:t>aplikace</a:t>
            </a:r>
            <a:r>
              <a:rPr dirty="0"/>
              <a:t> do </a:t>
            </a:r>
            <a:r>
              <a:rPr dirty="0" err="1"/>
              <a:t>předkonfigurované</a:t>
            </a:r>
            <a:r>
              <a:rPr dirty="0"/>
              <a:t> </a:t>
            </a:r>
            <a:r>
              <a:rPr dirty="0" err="1"/>
              <a:t>složky</a:t>
            </a:r>
            <a:r>
              <a:rPr dirty="0"/>
              <a:t> </a:t>
            </a:r>
            <a:r>
              <a:rPr dirty="0" err="1"/>
              <a:t>firmy</a:t>
            </a:r>
            <a:endParaRPr dirty="0"/>
          </a:p>
          <a:p>
            <a:pPr>
              <a:spcAft>
                <a:spcPts val="200"/>
              </a:spcAft>
              <a:defRPr sz="1300">
                <a:solidFill>
                  <a:srgbClr val="202020"/>
                </a:solidFill>
              </a:defRPr>
            </a:pPr>
            <a:r>
              <a:rPr dirty="0"/>
              <a:t>OAuth 2.0 </a:t>
            </a:r>
            <a:r>
              <a:rPr dirty="0" err="1"/>
              <a:t>autentizace</a:t>
            </a:r>
            <a:r>
              <a:rPr dirty="0"/>
              <a:t> </a:t>
            </a:r>
            <a:r>
              <a:rPr dirty="0" err="1"/>
              <a:t>vůči</a:t>
            </a:r>
            <a:r>
              <a:rPr dirty="0"/>
              <a:t> Microsoft 365 </a:t>
            </a:r>
            <a:r>
              <a:rPr dirty="0" err="1"/>
              <a:t>účtu</a:t>
            </a:r>
            <a:r>
              <a:rPr dirty="0"/>
              <a:t> </a:t>
            </a:r>
            <a:r>
              <a:rPr dirty="0" err="1"/>
              <a:t>firmy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9EAD6D-5C50-2421-6468-4FF6B5AFB7C4}"/>
              </a:ext>
            </a:extLst>
          </p:cNvPr>
          <p:cNvSpPr txBox="1"/>
          <p:nvPr/>
        </p:nvSpPr>
        <p:spPr>
          <a:xfrm>
            <a:off x="8036699" y="4714116"/>
            <a:ext cx="1107301" cy="369332"/>
          </a:xfrm>
          <a:prstGeom prst="rect">
            <a:avLst/>
          </a:prstGeom>
          <a:solidFill>
            <a:srgbClr val="FEFDF1"/>
          </a:solidFill>
        </p:spPr>
        <p:txBody>
          <a:bodyPr wrap="square" rtlCol="0">
            <a:spAutoFit/>
          </a:bodyPr>
          <a:lstStyle/>
          <a:p>
            <a:endParaRPr lang="cs-CZ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1012</Words>
  <Application>Microsoft Macintosh PowerPoint</Application>
  <PresentationFormat>On-screen Show (16:9)</PresentationFormat>
  <Paragraphs>156</Paragraphs>
  <Slides>16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Calibri</vt:lpstr>
      <vt:lpstr>Marcellus</vt:lpstr>
      <vt:lpstr>Arial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Arsenyev, Artem</cp:lastModifiedBy>
  <cp:revision>12</cp:revision>
  <dcterms:created xsi:type="dcterms:W3CDTF">2026-06-04T07:36:25Z</dcterms:created>
  <dcterms:modified xsi:type="dcterms:W3CDTF">2026-06-07T19:31:03Z</dcterms:modified>
</cp:coreProperties>
</file>